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 covers the eight dated cases. The screen uses raw tariff changes 1995–2005, which is different from the implementation window. All dates are annual episode conventions; finer temporal precision differs by source. No causal estimate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Dates: IND1991 budget; CHN1992 implemented cuts; MUS1994 consolidated schedule; THA1995 January programme; PHL1995 EO264 effective August28; PAK1997 tariff peak cut; CIV1998 March transition; SEN1998 April national phase. Sources differ in precision. The date-quality decisions followed earlier exploratory outcome inspection, so no preregistration claim is made. Programme start is not necessarily first liberalisation ever. BGD/KEN are not omitted because of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Figure1; notebook cell 17. All ten screened countries, including BGD/KEN. Dataset observation years rather than presumed annual historical observations. The raw EFW mean is not a statutory maximum or a chain-linked rating.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Figure2 analyses EFW Panel Dataset Area4 independently of the raw tariff series. Area4 combines several trade institutions. It must not be called a tariff-only measure. Exact organiser acceptance of the combined panel/raw-subcomponent interpretation is pending; the declaration asks this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Figure4. No tariff-driven income gain is identified. India, China and Mauritius lack five full pre-years in UNDP; the balanced subset therefore differs. Broader market reforms and macroeconomic conditions are plausible alternative explanations. Raw full-period income plots are in Appendix 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Figure5. Full five-year pre-CAGR compared to ten-year post-CAGR; missing pre-bars are not zero. The comparator is median non-case CAGR over each country’s same calendar years, with valid sample sizes 148–152. It is not an untreated control. China and India grew quickly but do not enter the full-prehistory acceleration 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Figure6 red cases are Pakistan, Thailand, Senegal and Côte d’Ivoire. Figure7 valid denominators exclude unavailable pre-1990 starts. Thailand’s Asian financial crisis and Côte d’Ivoire’s political conflict are realistic alternative explanations, documented by WTO1999 and World Bank2003. The analysis does not quantify their contributions or claim they fully explain the patterns.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outputs include five-year post-windows, shifts, excluding China, dropping both WAEMU cases, retaining one WAEMU case, using completion2000, and threshold changes limited to documented cases. A lower numerical threshold adds countries without sourced dates; its dated subset is not a complete expanded sample. These are limitations, not hidden successes.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one modification. Scope: non-preferential basic ad valorem duties only, HS chapters25–97; currently lower rates retained. Specific/mixed duties, other charges, VAT, excise, import prohibitions and preferences are outside the proposed amendment. The three-budget transition and20% ceiling are normative design choices; no affected-line count or fiscal/growth effect is estimated. Current compilation page215 shows higher non-agricultural basic duties, but a full product-level appraisal is still needed before implementation. This goes beyond existing band simplification; it is not described as an already implemented ceiling.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normative liberty case is presented separately from the descriptive empirical evidence. The recommendation cannot be justified solely by the positive income trajectories. External submission checks remain: organiser acceptance of dataset release/interpretation, approved declaration, exact deadline, participant review and judge-access test. Those are not computational checks.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this index is figures/chart_index.csv produced from actual notebook cell positions. Figure3 is Appendix B at page12. Sources follow in Appendix C. All eight figures have independent data exports.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Figure3: complete supplied UNDP GNI series1990–2023, including all ten screened countries. Different labelled panel scales. Event-window conclusions in main slides use only their defined post periods. This figure provides inspection context, not an extra causal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bibliography with literal URLs is supplied in research/sources.md and the working-file package. All sources are public; full books need not be bought because the cited China chapter is a free excerpt. Archive readability and date precision vary and are disclosed. No statistical chart values are taken from policy sources.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bibliography with literal URLs is supplied in research/sources.md and the working-file package. All sources are public; full books need not be bought because the cited China chapter is a free excerpt. Archive readability and date precision vary and are disclosed. No statistical chart values are taken from policy 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bibliography with literal URLs is supplied in research/sources.md and the working-file package. All sources are public; full books need not be bought because the cited China chapter is a free excerpt. Archive readability and date precision vary and are disclosed. No statistical chart values are taken from policy 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disclosure describes AI assistance; it does not assert that participant review has already occurred. The prepared package is a participant review copy. Fresh empty-directory execution is checked in outputs/clean_runtime_verification.json. Computational reproducibility does not imply causal identification or organiser approval.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Tariff cuts, uneven income paths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1</a:t>
            </a:r>
          </a:p>
        </p:txBody>
      </p:sp>
      <p:sp>
        <p:nvSpPr>
          <p:cNvPr id="8" name="TextBox 7"/>
          <p:cNvSpPr txBox="1"/>
          <p:nvPr/>
        </p:nvSpPr>
        <p:spPr>
          <a:xfrm>
            <a:off x="609600" y="1676400"/>
            <a:ext cx="10795000" cy="1968500"/>
          </a:xfrm>
          <a:prstGeom prst="rect">
            <a:avLst/>
          </a:prstGeom>
          <a:noFill/>
        </p:spPr>
        <p:txBody>
          <a:bodyPr wrap="square" lIns="0" rIns="0" tIns="0" bIns="0">
            <a:spAutoFit/>
          </a:bodyPr>
          <a:lstStyle/>
          <a:p>
            <a:pPr>
              <a:spcAft>
                <a:spcPts val="0"/>
              </a:spcAft>
              <a:defRPr sz="2300" b="1">
                <a:solidFill>
                  <a:srgbClr val="162D3D"/>
                </a:solidFill>
                <a:latin typeface="DejaVu Sans"/>
              </a:defRPr>
            </a:pPr>
            <a:r>
              <a:t>Among India, China, Mauritius, Thailand, the Philippines, Pakistan, Côte d’Ivoire and Senegal, what happened to GNI per capita in the ten years after tariff-cutting episodes in 1991–1998—and what does this suggest for Nepal’s tariff schedule?</a:t>
            </a:r>
          </a:p>
        </p:txBody>
      </p:sp>
      <p:sp>
        <p:nvSpPr>
          <p:cNvPr id="9" name="Rectangle 8"/>
          <p:cNvSpPr/>
          <p:nvPr/>
        </p:nvSpPr>
        <p:spPr>
          <a:xfrm>
            <a:off x="609600" y="4064000"/>
            <a:ext cx="10795000" cy="1460500"/>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4254500"/>
            <a:ext cx="10287000" cy="1117600"/>
          </a:xfrm>
          <a:prstGeom prst="rect">
            <a:avLst/>
          </a:prstGeom>
          <a:noFill/>
        </p:spPr>
        <p:txBody>
          <a:bodyPr wrap="square" lIns="0" rIns="0" tIns="0" bIns="0">
            <a:spAutoFit/>
          </a:bodyPr>
          <a:lstStyle/>
          <a:p>
            <a:pPr>
              <a:spcAft>
                <a:spcPts val="0"/>
              </a:spcAft>
              <a:defRPr sz="1900" b="0">
                <a:solidFill>
                  <a:srgbClr val="162D3D"/>
                </a:solidFill>
                <a:latin typeface="DejaVu Sans"/>
              </a:defRPr>
            </a:pPr>
            <a:r>
              <a:t>Ten countries pass the policy-data screen. Eight have documented episode years for the main comparison. Outcomes are mixed; the analysis does not identify a causal growth effect.</a:t>
            </a:r>
          </a:p>
        </p:txBody>
      </p:sp>
      <p:sp>
        <p:nvSpPr>
          <p:cNvPr id="11" name="TextBox 10"/>
          <p:cNvSpPr txBox="1"/>
          <p:nvPr/>
        </p:nvSpPr>
        <p:spPr>
          <a:xfrm>
            <a:off x="609600" y="5791200"/>
            <a:ext cx="10795000" cy="355600"/>
          </a:xfrm>
          <a:prstGeom prst="rect">
            <a:avLst/>
          </a:prstGeom>
          <a:noFill/>
        </p:spPr>
        <p:txBody>
          <a:bodyPr wrap="square" lIns="0" rIns="0" tIns="0" bIns="0">
            <a:spAutoFit/>
          </a:bodyPr>
          <a:lstStyle/>
          <a:p>
            <a:pPr>
              <a:spcAft>
                <a:spcPts val="0"/>
              </a:spcAft>
              <a:defRPr sz="1100" b="0">
                <a:solidFill>
                  <a:srgbClr val="536671"/>
                </a:solidFill>
                <a:latin typeface="DejaVu Sans"/>
              </a:defRPr>
            </a:pPr>
            <a:r>
              <a:t>Outcome source: UNDP HDR25, GNI per capita in 2021 PPP dollars. Event outcome coverage: 1990–2008.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 policy-data rule, followed by documentary dating</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2</a:t>
            </a:r>
          </a:p>
        </p:txBody>
      </p:sp>
      <p:sp>
        <p:nvSpPr>
          <p:cNvPr id="8" name="TextBox 7"/>
          <p:cNvSpPr txBox="1"/>
          <p:nvPr/>
        </p:nvSpPr>
        <p:spPr>
          <a:xfrm>
            <a:off x="571500" y="1511300"/>
            <a:ext cx="11049000" cy="698500"/>
          </a:xfrm>
          <a:prstGeom prst="rect">
            <a:avLst/>
          </a:prstGeom>
          <a:noFill/>
        </p:spPr>
        <p:txBody>
          <a:bodyPr wrap="square" lIns="0" rIns="0" tIns="0" bIns="0">
            <a:spAutoFit/>
          </a:bodyPr>
          <a:lstStyle/>
          <a:p>
            <a:pPr>
              <a:spcAft>
                <a:spcPts val="0"/>
              </a:spcAft>
              <a:defRPr sz="1800" b="0">
                <a:solidFill>
                  <a:srgbClr val="162D3D"/>
                </a:solidFill>
                <a:latin typeface="DejaVu Sans"/>
              </a:defRPr>
            </a:pPr>
            <a:r>
              <a:t>Screen: mean tariff decline ≥20 percentage points, 1995–2005, with both tariff endpoints and some UNDP GNI data. All ten qualifying countries stay visible.</a:t>
            </a:r>
          </a:p>
        </p:txBody>
      </p:sp>
      <p:sp>
        <p:nvSpPr>
          <p:cNvPr id="9" name="TextBox 8"/>
          <p:cNvSpPr txBox="1"/>
          <p:nvPr/>
        </p:nvSpPr>
        <p:spPr>
          <a:xfrm>
            <a:off x="609600" y="25146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India</a:t>
            </a:r>
          </a:p>
        </p:txBody>
      </p:sp>
      <p:sp>
        <p:nvSpPr>
          <p:cNvPr id="10" name="TextBox 9"/>
          <p:cNvSpPr txBox="1"/>
          <p:nvPr/>
        </p:nvSpPr>
        <p:spPr>
          <a:xfrm>
            <a:off x="4038600" y="25146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1991</a:t>
            </a:r>
          </a:p>
        </p:txBody>
      </p:sp>
      <p:sp>
        <p:nvSpPr>
          <p:cNvPr id="11" name="TextBox 10"/>
          <p:cNvSpPr txBox="1"/>
          <p:nvPr/>
        </p:nvSpPr>
        <p:spPr>
          <a:xfrm>
            <a:off x="609600" y="30607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China</a:t>
            </a:r>
          </a:p>
        </p:txBody>
      </p:sp>
      <p:sp>
        <p:nvSpPr>
          <p:cNvPr id="12" name="TextBox 11"/>
          <p:cNvSpPr txBox="1"/>
          <p:nvPr/>
        </p:nvSpPr>
        <p:spPr>
          <a:xfrm>
            <a:off x="4038600" y="30607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1992</a:t>
            </a:r>
          </a:p>
        </p:txBody>
      </p:sp>
      <p:sp>
        <p:nvSpPr>
          <p:cNvPr id="13" name="TextBox 12"/>
          <p:cNvSpPr txBox="1"/>
          <p:nvPr/>
        </p:nvSpPr>
        <p:spPr>
          <a:xfrm>
            <a:off x="609600" y="36068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Mauritius</a:t>
            </a:r>
          </a:p>
        </p:txBody>
      </p:sp>
      <p:sp>
        <p:nvSpPr>
          <p:cNvPr id="14" name="TextBox 13"/>
          <p:cNvSpPr txBox="1"/>
          <p:nvPr/>
        </p:nvSpPr>
        <p:spPr>
          <a:xfrm>
            <a:off x="4038600" y="36068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1994</a:t>
            </a:r>
          </a:p>
        </p:txBody>
      </p:sp>
      <p:sp>
        <p:nvSpPr>
          <p:cNvPr id="15" name="TextBox 14"/>
          <p:cNvSpPr txBox="1"/>
          <p:nvPr/>
        </p:nvSpPr>
        <p:spPr>
          <a:xfrm>
            <a:off x="609600" y="41529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Thailand</a:t>
            </a:r>
          </a:p>
        </p:txBody>
      </p:sp>
      <p:sp>
        <p:nvSpPr>
          <p:cNvPr id="16" name="TextBox 15"/>
          <p:cNvSpPr txBox="1"/>
          <p:nvPr/>
        </p:nvSpPr>
        <p:spPr>
          <a:xfrm>
            <a:off x="4038600" y="41529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1995</a:t>
            </a:r>
          </a:p>
        </p:txBody>
      </p:sp>
      <p:sp>
        <p:nvSpPr>
          <p:cNvPr id="17" name="TextBox 16"/>
          <p:cNvSpPr txBox="1"/>
          <p:nvPr/>
        </p:nvSpPr>
        <p:spPr>
          <a:xfrm>
            <a:off x="6299200" y="25146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Philippines</a:t>
            </a:r>
          </a:p>
        </p:txBody>
      </p:sp>
      <p:sp>
        <p:nvSpPr>
          <p:cNvPr id="18" name="TextBox 17"/>
          <p:cNvSpPr txBox="1"/>
          <p:nvPr/>
        </p:nvSpPr>
        <p:spPr>
          <a:xfrm>
            <a:off x="9728200" y="25146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1995</a:t>
            </a:r>
          </a:p>
        </p:txBody>
      </p:sp>
      <p:sp>
        <p:nvSpPr>
          <p:cNvPr id="19" name="TextBox 18"/>
          <p:cNvSpPr txBox="1"/>
          <p:nvPr/>
        </p:nvSpPr>
        <p:spPr>
          <a:xfrm>
            <a:off x="6299200" y="30607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Pakistan</a:t>
            </a:r>
          </a:p>
        </p:txBody>
      </p:sp>
      <p:sp>
        <p:nvSpPr>
          <p:cNvPr id="20" name="TextBox 19"/>
          <p:cNvSpPr txBox="1"/>
          <p:nvPr/>
        </p:nvSpPr>
        <p:spPr>
          <a:xfrm>
            <a:off x="9728200" y="30607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1997</a:t>
            </a:r>
          </a:p>
        </p:txBody>
      </p:sp>
      <p:sp>
        <p:nvSpPr>
          <p:cNvPr id="21" name="TextBox 20"/>
          <p:cNvSpPr txBox="1"/>
          <p:nvPr/>
        </p:nvSpPr>
        <p:spPr>
          <a:xfrm>
            <a:off x="6299200" y="36068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Côte d'Ivoire</a:t>
            </a:r>
          </a:p>
        </p:txBody>
      </p:sp>
      <p:sp>
        <p:nvSpPr>
          <p:cNvPr id="22" name="TextBox 21"/>
          <p:cNvSpPr txBox="1"/>
          <p:nvPr/>
        </p:nvSpPr>
        <p:spPr>
          <a:xfrm>
            <a:off x="9728200" y="36068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1998</a:t>
            </a:r>
          </a:p>
        </p:txBody>
      </p:sp>
      <p:sp>
        <p:nvSpPr>
          <p:cNvPr id="23" name="TextBox 22"/>
          <p:cNvSpPr txBox="1"/>
          <p:nvPr/>
        </p:nvSpPr>
        <p:spPr>
          <a:xfrm>
            <a:off x="6299200" y="4152900"/>
            <a:ext cx="3302000" cy="3810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Senegal</a:t>
            </a:r>
          </a:p>
        </p:txBody>
      </p:sp>
      <p:sp>
        <p:nvSpPr>
          <p:cNvPr id="24" name="TextBox 23"/>
          <p:cNvSpPr txBox="1"/>
          <p:nvPr/>
        </p:nvSpPr>
        <p:spPr>
          <a:xfrm>
            <a:off x="9728200" y="4152900"/>
            <a:ext cx="1270000" cy="381000"/>
          </a:xfrm>
          <a:prstGeom prst="rect">
            <a:avLst/>
          </a:prstGeom>
          <a:noFill/>
        </p:spPr>
        <p:txBody>
          <a:bodyPr wrap="square" lIns="0" rIns="0" tIns="0" bIns="0">
            <a:spAutoFit/>
          </a:bodyPr>
          <a:lstStyle/>
          <a:p>
            <a:pPr>
              <a:spcAft>
                <a:spcPts val="0"/>
              </a:spcAft>
              <a:defRPr sz="1800" b="0">
                <a:solidFill>
                  <a:srgbClr val="176B87"/>
                </a:solidFill>
                <a:latin typeface="DejaVu Sans"/>
              </a:defRPr>
            </a:pPr>
            <a:r>
              <a:t>1998</a:t>
            </a:r>
          </a:p>
        </p:txBody>
      </p:sp>
      <p:sp>
        <p:nvSpPr>
          <p:cNvPr id="25" name="TextBox 24"/>
          <p:cNvSpPr txBox="1"/>
          <p:nvPr/>
        </p:nvSpPr>
        <p:spPr>
          <a:xfrm>
            <a:off x="609600" y="4953000"/>
            <a:ext cx="10922000" cy="800100"/>
          </a:xfrm>
          <a:prstGeom prst="rect">
            <a:avLst/>
          </a:prstGeom>
          <a:noFill/>
        </p:spPr>
        <p:txBody>
          <a:bodyPr wrap="square" lIns="0" rIns="0" tIns="0" bIns="0">
            <a:spAutoFit/>
          </a:bodyPr>
          <a:lstStyle/>
          <a:p>
            <a:pPr>
              <a:spcAft>
                <a:spcPts val="0"/>
              </a:spcAft>
              <a:defRPr sz="1500" b="0">
                <a:solidFill>
                  <a:srgbClr val="162D3D"/>
                </a:solidFill>
                <a:latin typeface="DejaVu Sans"/>
              </a:defRPr>
            </a:pPr>
            <a:r>
              <a:t>Bangladesh and Kenya: timing precision insufficient for the main tariff-event definition; retained in screening and a separate date grid. CIV/SEN share a regional reform.</a:t>
            </a:r>
          </a:p>
        </p:txBody>
      </p:sp>
      <p:sp>
        <p:nvSpPr>
          <p:cNvPr id="26" name="TextBox 25"/>
          <p:cNvSpPr txBox="1"/>
          <p:nvPr/>
        </p:nvSpPr>
        <p:spPr>
          <a:xfrm>
            <a:off x="609600" y="5930900"/>
            <a:ext cx="10922000" cy="355600"/>
          </a:xfrm>
          <a:prstGeom prst="rect">
            <a:avLst/>
          </a:prstGeom>
          <a:noFill/>
        </p:spPr>
        <p:txBody>
          <a:bodyPr wrap="square" lIns="0" rIns="0" tIns="0" bIns="0">
            <a:spAutoFit/>
          </a:bodyPr>
          <a:lstStyle/>
          <a:p>
            <a:pPr>
              <a:spcAft>
                <a:spcPts val="0"/>
              </a:spcAft>
              <a:defRPr sz="1000" b="0">
                <a:solidFill>
                  <a:srgbClr val="536671"/>
                </a:solidFill>
                <a:latin typeface="DejaVu Sans"/>
              </a:defRPr>
            </a:pPr>
            <a:r>
              <a:t>Sources: EFW raw 4Aii; budget, executive-order, WTO, PIIE, SPDC and IMF records. Full locations: source appendix and date ledger.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Large tariff declines are visible in the policy data</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3</a:t>
            </a:r>
          </a:p>
        </p:txBody>
      </p:sp>
      <p:pic>
        <p:nvPicPr>
          <p:cNvPr id="8" name="Picture 7" descr="Fig1.png"/>
          <p:cNvPicPr>
            <a:picLocks noChangeAspect="1"/>
          </p:cNvPicPr>
          <p:nvPr/>
        </p:nvPicPr>
        <p:blipFill>
          <a:blip r:embed="rId2"/>
          <a:stretch>
            <a:fillRect/>
          </a:stretch>
        </p:blipFill>
        <p:spPr>
          <a:xfrm>
            <a:off x="817562" y="1409700"/>
            <a:ext cx="10556875" cy="482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Use the required chain-linked panel as context</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4</a:t>
            </a:r>
          </a:p>
        </p:txBody>
      </p:sp>
      <p:pic>
        <p:nvPicPr>
          <p:cNvPr id="8" name="Picture 7" descr="Fig2.png"/>
          <p:cNvPicPr>
            <a:picLocks noChangeAspect="1"/>
          </p:cNvPicPr>
          <p:nvPr/>
        </p:nvPicPr>
        <p:blipFill>
          <a:blip r:embed="rId2"/>
          <a:stretch>
            <a:fillRect/>
          </a:stretch>
        </p:blipFill>
        <p:spPr>
          <a:xfrm>
            <a:off x="867833" y="1409700"/>
            <a:ext cx="10456333" cy="482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550" b="1">
                <a:solidFill>
                  <a:srgbClr val="162D3D"/>
                </a:solidFill>
                <a:latin typeface="DejaVu Sans"/>
              </a:defRPr>
            </a:pPr>
            <a:r>
              <a:t>Income rose in 7 of 8 cases; that does not establish an effect</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5</a:t>
            </a:r>
          </a:p>
        </p:txBody>
      </p:sp>
      <p:pic>
        <p:nvPicPr>
          <p:cNvPr id="8" name="Picture 7" descr="Fig4.png"/>
          <p:cNvPicPr>
            <a:picLocks noChangeAspect="1"/>
          </p:cNvPicPr>
          <p:nvPr/>
        </p:nvPicPr>
        <p:blipFill>
          <a:blip r:embed="rId2"/>
          <a:stretch>
            <a:fillRect/>
          </a:stretch>
        </p:blipFill>
        <p:spPr>
          <a:xfrm>
            <a:off x="674413" y="1397000"/>
            <a:ext cx="8430172" cy="4889500"/>
          </a:xfrm>
          <a:prstGeom prst="rect">
            <a:avLst/>
          </a:prstGeom>
        </p:spPr>
      </p:pic>
      <p:sp>
        <p:nvSpPr>
          <p:cNvPr id="9" name="TextBox 8"/>
          <p:cNvSpPr txBox="1"/>
          <p:nvPr/>
        </p:nvSpPr>
        <p:spPr>
          <a:xfrm>
            <a:off x="9550400" y="1816100"/>
            <a:ext cx="2159000" cy="571500"/>
          </a:xfrm>
          <a:prstGeom prst="rect">
            <a:avLst/>
          </a:prstGeom>
          <a:noFill/>
        </p:spPr>
        <p:txBody>
          <a:bodyPr wrap="square" lIns="0" rIns="0" tIns="0" bIns="0">
            <a:spAutoFit/>
          </a:bodyPr>
          <a:lstStyle/>
          <a:p>
            <a:pPr>
              <a:spcAft>
                <a:spcPts val="0"/>
              </a:spcAft>
              <a:defRPr sz="1700" b="1">
                <a:solidFill>
                  <a:srgbClr val="176B87"/>
                </a:solidFill>
                <a:latin typeface="DejaVu Sans"/>
              </a:defRPr>
            </a:pPr>
            <a:r>
              <a:t>Event alignment</a:t>
            </a:r>
          </a:p>
        </p:txBody>
      </p:sp>
      <p:sp>
        <p:nvSpPr>
          <p:cNvPr id="10" name="TextBox 9"/>
          <p:cNvSpPr txBox="1"/>
          <p:nvPr/>
        </p:nvSpPr>
        <p:spPr>
          <a:xfrm>
            <a:off x="9550400" y="2463800"/>
            <a:ext cx="2159000" cy="13335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Every series equals 100 at reform by construction. That meeting point is not evidence.</a:t>
            </a:r>
          </a:p>
        </p:txBody>
      </p:sp>
      <p:sp>
        <p:nvSpPr>
          <p:cNvPr id="11" name="TextBox 10"/>
          <p:cNvSpPr txBox="1"/>
          <p:nvPr/>
        </p:nvSpPr>
        <p:spPr>
          <a:xfrm>
            <a:off x="9550400" y="4038600"/>
            <a:ext cx="2159000" cy="17272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Solid median changes membership before reform. Dotted median holds the five full-window countries fixed.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Growth accelerated in 3 of 5 cases with full prehistory</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6</a:t>
            </a:r>
          </a:p>
        </p:txBody>
      </p:sp>
      <p:pic>
        <p:nvPicPr>
          <p:cNvPr id="8" name="Picture 7" descr="Fig5.png"/>
          <p:cNvPicPr>
            <a:picLocks noChangeAspect="1"/>
          </p:cNvPicPr>
          <p:nvPr/>
        </p:nvPicPr>
        <p:blipFill>
          <a:blip r:embed="rId2"/>
          <a:stretch>
            <a:fillRect/>
          </a:stretch>
        </p:blipFill>
        <p:spPr>
          <a:xfrm>
            <a:off x="1356178" y="1397000"/>
            <a:ext cx="9479642" cy="482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Only 4/8 exceeded the broad comparator</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7</a:t>
            </a:r>
          </a:p>
        </p:txBody>
      </p:sp>
      <p:pic>
        <p:nvPicPr>
          <p:cNvPr id="8" name="Picture 7" descr="Fig6.png"/>
          <p:cNvPicPr>
            <a:picLocks noChangeAspect="1"/>
          </p:cNvPicPr>
          <p:nvPr/>
        </p:nvPicPr>
        <p:blipFill>
          <a:blip r:embed="rId2"/>
          <a:stretch>
            <a:fillRect/>
          </a:stretch>
        </p:blipFill>
        <p:spPr>
          <a:xfrm>
            <a:off x="355600" y="1623695"/>
            <a:ext cx="7746999" cy="4105910"/>
          </a:xfrm>
          <a:prstGeom prst="rect">
            <a:avLst/>
          </a:prstGeom>
        </p:spPr>
      </p:pic>
      <p:pic>
        <p:nvPicPr>
          <p:cNvPr id="9" name="Picture 8" descr="Fig7.png"/>
          <p:cNvPicPr>
            <a:picLocks noChangeAspect="1"/>
          </p:cNvPicPr>
          <p:nvPr/>
        </p:nvPicPr>
        <p:blipFill>
          <a:blip r:embed="rId3"/>
          <a:stretch>
            <a:fillRect/>
          </a:stretch>
        </p:blipFill>
        <p:spPr>
          <a:xfrm>
            <a:off x="8153399" y="1713794"/>
            <a:ext cx="3683000" cy="2046111"/>
          </a:xfrm>
          <a:prstGeom prst="rect">
            <a:avLst/>
          </a:prstGeom>
        </p:spPr>
      </p:pic>
      <p:sp>
        <p:nvSpPr>
          <p:cNvPr id="10" name="TextBox 9"/>
          <p:cNvSpPr txBox="1"/>
          <p:nvPr/>
        </p:nvSpPr>
        <p:spPr>
          <a:xfrm>
            <a:off x="8356600" y="4203700"/>
            <a:ext cx="3365500" cy="1333500"/>
          </a:xfrm>
          <a:prstGeom prst="rect">
            <a:avLst/>
          </a:prstGeom>
          <a:noFill/>
        </p:spPr>
        <p:txBody>
          <a:bodyPr wrap="square" lIns="0" rIns="0" tIns="0" bIns="0">
            <a:spAutoFit/>
          </a:bodyPr>
          <a:lstStyle/>
          <a:p>
            <a:pPr>
              <a:spcAft>
                <a:spcPts val="0"/>
              </a:spcAft>
              <a:defRPr sz="1500" b="1">
                <a:solidFill>
                  <a:srgbClr val="162D3D"/>
                </a:solidFill>
                <a:latin typeface="DejaVu Sans"/>
              </a:defRPr>
            </a:pPr>
            <a:r>
              <a:t>Median excess: +0.06 pp/year.</a:t>
            </a:r>
          </a:p>
          <a:p>
            <a:pPr>
              <a:spcAft>
                <a:spcPts val="0"/>
              </a:spcAft>
              <a:defRPr sz="1500" b="1">
                <a:solidFill>
                  <a:srgbClr val="162D3D"/>
                </a:solidFill>
                <a:latin typeface="DejaVu Sans"/>
              </a:defRPr>
            </a:pPr>
            <a:r>
              <a:t>Dating shifts change the sign of the median. The descriptive premium is fragile.</a:t>
            </a:r>
          </a:p>
        </p:txBody>
      </p:sp>
      <p:sp>
        <p:nvSpPr>
          <p:cNvPr id="11" name="TextBox 10"/>
          <p:cNvSpPr txBox="1"/>
          <p:nvPr/>
        </p:nvSpPr>
        <p:spPr>
          <a:xfrm>
            <a:off x="558800" y="6032500"/>
            <a:ext cx="11112500" cy="317500"/>
          </a:xfrm>
          <a:prstGeom prst="rect">
            <a:avLst/>
          </a:prstGeom>
          <a:noFill/>
        </p:spPr>
        <p:txBody>
          <a:bodyPr wrap="square" lIns="0" rIns="0" tIns="0" bIns="0">
            <a:spAutoFit/>
          </a:bodyPr>
          <a:lstStyle/>
          <a:p>
            <a:pPr>
              <a:spcAft>
                <a:spcPts val="0"/>
              </a:spcAft>
              <a:defRPr sz="1100" b="0">
                <a:solidFill>
                  <a:srgbClr val="536671"/>
                </a:solidFill>
                <a:latin typeface="DejaVu Sans"/>
              </a:defRPr>
            </a:pPr>
            <a:r>
              <a:t>Figures 6–7. Contrary cases remain. Comparator countries can also reform; this comparison does not isolate tariff effects.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The conclusion survives only in a cautious form</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8</a:t>
            </a:r>
          </a:p>
        </p:txBody>
      </p:sp>
      <p:sp>
        <p:nvSpPr>
          <p:cNvPr id="8" name="Rectangle 7"/>
          <p:cNvSpPr/>
          <p:nvPr/>
        </p:nvSpPr>
        <p:spPr>
          <a:xfrm>
            <a:off x="571500" y="1562100"/>
            <a:ext cx="5334000" cy="1993899"/>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1714500"/>
            <a:ext cx="4953000" cy="381000"/>
          </a:xfrm>
          <a:prstGeom prst="rect">
            <a:avLst/>
          </a:prstGeom>
          <a:noFill/>
        </p:spPr>
        <p:txBody>
          <a:bodyPr wrap="square" lIns="0" rIns="0" tIns="0" bIns="0">
            <a:spAutoFit/>
          </a:bodyPr>
          <a:lstStyle/>
          <a:p>
            <a:pPr>
              <a:spcAft>
                <a:spcPts val="0"/>
              </a:spcAft>
              <a:defRPr sz="1800" b="1">
                <a:solidFill>
                  <a:srgbClr val="176B87"/>
                </a:solidFill>
                <a:latin typeface="DejaVu Sans"/>
              </a:defRPr>
            </a:pPr>
            <a:r>
              <a:t>Dependence on cases</a:t>
            </a:r>
          </a:p>
        </p:txBody>
      </p:sp>
      <p:sp>
        <p:nvSpPr>
          <p:cNvPr id="10" name="TextBox 9"/>
          <p:cNvSpPr txBox="1"/>
          <p:nvPr/>
        </p:nvSpPr>
        <p:spPr>
          <a:xfrm>
            <a:off x="762000" y="2184400"/>
            <a:ext cx="4953000" cy="12065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Without China: 3/7 above comparator; median -0.27 pp/year. Removing both WAEMU countries changes the composition, not the main sample.</a:t>
            </a:r>
          </a:p>
        </p:txBody>
      </p:sp>
      <p:sp>
        <p:nvSpPr>
          <p:cNvPr id="11" name="Rectangle 10"/>
          <p:cNvSpPr/>
          <p:nvPr/>
        </p:nvSpPr>
        <p:spPr>
          <a:xfrm>
            <a:off x="6261100" y="1562100"/>
            <a:ext cx="5334000" cy="1993899"/>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1600" y="1714500"/>
            <a:ext cx="4953000" cy="381000"/>
          </a:xfrm>
          <a:prstGeom prst="rect">
            <a:avLst/>
          </a:prstGeom>
          <a:noFill/>
        </p:spPr>
        <p:txBody>
          <a:bodyPr wrap="square" lIns="0" rIns="0" tIns="0" bIns="0">
            <a:spAutoFit/>
          </a:bodyPr>
          <a:lstStyle/>
          <a:p>
            <a:pPr>
              <a:spcAft>
                <a:spcPts val="0"/>
              </a:spcAft>
              <a:defRPr sz="1800" b="1">
                <a:solidFill>
                  <a:srgbClr val="176B87"/>
                </a:solidFill>
                <a:latin typeface="DejaVu Sans"/>
              </a:defRPr>
            </a:pPr>
            <a:r>
              <a:t>Timing uncertainty</a:t>
            </a:r>
          </a:p>
        </p:txBody>
      </p:sp>
      <p:sp>
        <p:nvSpPr>
          <p:cNvPr id="13" name="TextBox 12"/>
          <p:cNvSpPr txBox="1"/>
          <p:nvPr/>
        </p:nvSpPr>
        <p:spPr>
          <a:xfrm>
            <a:off x="6451600" y="2184400"/>
            <a:ext cx="4953000" cy="12065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Adding Bangladesh/Kenya under all 12 stated timing combinations gives 5/10 above comparator. Those are assumed event years, not newly verified laws.</a:t>
            </a:r>
          </a:p>
        </p:txBody>
      </p:sp>
      <p:sp>
        <p:nvSpPr>
          <p:cNvPr id="14" name="Rectangle 13"/>
          <p:cNvSpPr/>
          <p:nvPr/>
        </p:nvSpPr>
        <p:spPr>
          <a:xfrm>
            <a:off x="571500" y="3835400"/>
            <a:ext cx="5334000" cy="1993899"/>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3987799"/>
            <a:ext cx="4953000" cy="381000"/>
          </a:xfrm>
          <a:prstGeom prst="rect">
            <a:avLst/>
          </a:prstGeom>
          <a:noFill/>
        </p:spPr>
        <p:txBody>
          <a:bodyPr wrap="square" lIns="0" rIns="0" tIns="0" bIns="0">
            <a:spAutoFit/>
          </a:bodyPr>
          <a:lstStyle/>
          <a:p>
            <a:pPr>
              <a:spcAft>
                <a:spcPts val="0"/>
              </a:spcAft>
              <a:defRPr sz="1800" b="1">
                <a:solidFill>
                  <a:srgbClr val="176B87"/>
                </a:solidFill>
                <a:latin typeface="DejaVu Sans"/>
              </a:defRPr>
            </a:pPr>
            <a:r>
              <a:t>Competing explanations</a:t>
            </a:r>
          </a:p>
        </p:txBody>
      </p:sp>
      <p:sp>
        <p:nvSpPr>
          <p:cNvPr id="16" name="TextBox 15"/>
          <p:cNvSpPr txBox="1"/>
          <p:nvPr/>
        </p:nvSpPr>
        <p:spPr>
          <a:xfrm>
            <a:off x="762000" y="4457700"/>
            <a:ext cx="4953000" cy="12065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China/India’s wider reforms; Thailand’s financial crisis; Côte d’Ivoire’s instability and conflict. No matched counterfactual separates these from tariff changes.</a:t>
            </a:r>
          </a:p>
        </p:txBody>
      </p:sp>
      <p:sp>
        <p:nvSpPr>
          <p:cNvPr id="17" name="Rectangle 16"/>
          <p:cNvSpPr/>
          <p:nvPr/>
        </p:nvSpPr>
        <p:spPr>
          <a:xfrm>
            <a:off x="6261100" y="3835400"/>
            <a:ext cx="5334000" cy="1993899"/>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3987799"/>
            <a:ext cx="4953000" cy="381000"/>
          </a:xfrm>
          <a:prstGeom prst="rect">
            <a:avLst/>
          </a:prstGeom>
          <a:noFill/>
        </p:spPr>
        <p:txBody>
          <a:bodyPr wrap="square" lIns="0" rIns="0" tIns="0" bIns="0">
            <a:spAutoFit/>
          </a:bodyPr>
          <a:lstStyle/>
          <a:p>
            <a:pPr>
              <a:spcAft>
                <a:spcPts val="0"/>
              </a:spcAft>
              <a:defRPr sz="1800" b="1">
                <a:solidFill>
                  <a:srgbClr val="176B87"/>
                </a:solidFill>
                <a:latin typeface="DejaVu Sans"/>
              </a:defRPr>
            </a:pPr>
            <a:r>
              <a:t>Transfer to Nepal</a:t>
            </a:r>
          </a:p>
        </p:txBody>
      </p:sp>
      <p:sp>
        <p:nvSpPr>
          <p:cNvPr id="19" name="TextBox 18"/>
          <p:cNvSpPr txBox="1"/>
          <p:nvPr/>
        </p:nvSpPr>
        <p:spPr>
          <a:xfrm>
            <a:off x="6451600" y="4457700"/>
            <a:ext cx="4953000" cy="1206500"/>
          </a:xfrm>
          <a:prstGeom prst="rect">
            <a:avLst/>
          </a:prstGeom>
          <a:noFill/>
        </p:spPr>
        <p:txBody>
          <a:bodyPr wrap="square" lIns="0" rIns="0" tIns="0" bIns="0">
            <a:spAutoFit/>
          </a:bodyPr>
          <a:lstStyle/>
          <a:p>
            <a:pPr>
              <a:spcAft>
                <a:spcPts val="0"/>
              </a:spcAft>
              <a:defRPr sz="1400" b="0">
                <a:solidFill>
                  <a:srgbClr val="162D3D"/>
                </a:solidFill>
                <a:latin typeface="DejaVu Sans"/>
              </a:defRPr>
            </a:pPr>
            <a:r>
              <a:t>Historical national averages cannot identify an optimal Nepal tariff or predict revenue, jobs, prices or income gains. Raw means and statutory tariff peaks are different objects.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One modification: a transparent ceiling on tariff peaks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9</a:t>
            </a:r>
          </a:p>
        </p:txBody>
      </p:sp>
      <p:pic>
        <p:nvPicPr>
          <p:cNvPr id="8" name="Picture 7" descr="Fig8.png"/>
          <p:cNvPicPr>
            <a:picLocks noChangeAspect="1"/>
          </p:cNvPicPr>
          <p:nvPr/>
        </p:nvPicPr>
        <p:blipFill>
          <a:blip r:embed="rId2"/>
          <a:stretch>
            <a:fillRect/>
          </a:stretch>
        </p:blipFill>
        <p:spPr>
          <a:xfrm>
            <a:off x="5905500" y="1768475"/>
            <a:ext cx="5905500" cy="2952750"/>
          </a:xfrm>
          <a:prstGeom prst="rect">
            <a:avLst/>
          </a:prstGeom>
        </p:spPr>
      </p:pic>
      <p:sp>
        <p:nvSpPr>
          <p:cNvPr id="9" name="TextBox 8"/>
          <p:cNvSpPr txBox="1"/>
          <p:nvPr/>
        </p:nvSpPr>
        <p:spPr>
          <a:xfrm>
            <a:off x="558800" y="1511300"/>
            <a:ext cx="5080000" cy="1841500"/>
          </a:xfrm>
          <a:prstGeom prst="rect">
            <a:avLst/>
          </a:prstGeom>
          <a:noFill/>
        </p:spPr>
        <p:txBody>
          <a:bodyPr wrap="square" lIns="0" rIns="0" tIns="0" bIns="0">
            <a:spAutoFit/>
          </a:bodyPr>
          <a:lstStyle/>
          <a:p>
            <a:pPr>
              <a:spcAft>
                <a:spcPts val="0"/>
              </a:spcAft>
              <a:defRPr sz="1800" b="1">
                <a:solidFill>
                  <a:srgbClr val="162D3D"/>
                </a:solidFill>
                <a:latin typeface="DejaVu Sans"/>
              </a:defRPr>
            </a:pPr>
            <a:r>
              <a:t>Nepal: amend Schedule 1 of the Customs Tariff Act 2081, as amended, to cap standard non-preferential ad valorem basic duties in HS25–97 at 20% over three budgets. Retain lower rates.</a:t>
            </a:r>
          </a:p>
        </p:txBody>
      </p:sp>
      <p:sp>
        <p:nvSpPr>
          <p:cNvPr id="10" name="TextBox 9"/>
          <p:cNvSpPr txBox="1"/>
          <p:nvPr/>
        </p:nvSpPr>
        <p:spPr>
          <a:xfrm>
            <a:off x="558800" y="3594100"/>
            <a:ext cx="5080000" cy="1397000"/>
          </a:xfrm>
          <a:prstGeom prst="rect">
            <a:avLst/>
          </a:prstGeom>
          <a:noFill/>
        </p:spPr>
        <p:txBody>
          <a:bodyPr wrap="square" lIns="0" rIns="0" tIns="0" bIns="0">
            <a:spAutoFit/>
          </a:bodyPr>
          <a:lstStyle/>
          <a:p>
            <a:pPr>
              <a:spcAft>
                <a:spcPts val="0"/>
              </a:spcAft>
              <a:defRPr sz="1500" b="0">
                <a:solidFill>
                  <a:srgbClr val="162D3D"/>
                </a:solidFill>
                <a:latin typeface="DejaVu Sans"/>
              </a:defRPr>
            </a:pPr>
            <a:r>
              <a:t>Authority: Ministry of Finance proposes; Federal Parliament enacts; Customs administers. Mechanism: reduce the tax wedge on affected imports, widening choice and competition.</a:t>
            </a:r>
          </a:p>
        </p:txBody>
      </p:sp>
      <p:sp>
        <p:nvSpPr>
          <p:cNvPr id="11" name="TextBox 10"/>
          <p:cNvSpPr txBox="1"/>
          <p:nvPr/>
        </p:nvSpPr>
        <p:spPr>
          <a:xfrm>
            <a:off x="6096000" y="5080000"/>
            <a:ext cx="5461000" cy="977900"/>
          </a:xfrm>
          <a:prstGeom prst="rect">
            <a:avLst/>
          </a:prstGeom>
          <a:noFill/>
        </p:spPr>
        <p:txBody>
          <a:bodyPr wrap="square" lIns="0" rIns="0" tIns="0" bIns="0">
            <a:spAutoFit/>
          </a:bodyPr>
          <a:lstStyle/>
          <a:p>
            <a:pPr>
              <a:spcAft>
                <a:spcPts val="0"/>
              </a:spcAft>
              <a:defRPr sz="1300" b="0">
                <a:solidFill>
                  <a:srgbClr val="162D3D"/>
                </a:solidFill>
                <a:latin typeface="DejaVu Sans"/>
              </a:defRPr>
            </a:pPr>
            <a:r>
              <a:t>Figures 1–2 show historical policy changes; 4–7 limit the growth claim; 8 shows Nepal’s different starting point. A 20% ceiling is proposed, not an estimated optimum.</a:t>
            </a:r>
          </a:p>
        </p:txBody>
      </p:sp>
      <p:sp>
        <p:nvSpPr>
          <p:cNvPr id="12" name="TextBox 11"/>
          <p:cNvSpPr txBox="1"/>
          <p:nvPr/>
        </p:nvSpPr>
        <p:spPr>
          <a:xfrm>
            <a:off x="558800" y="5511800"/>
            <a:ext cx="5080000" cy="736600"/>
          </a:xfrm>
          <a:prstGeom prst="rect">
            <a:avLst/>
          </a:prstGeom>
          <a:noFill/>
        </p:spPr>
        <p:txBody>
          <a:bodyPr wrap="square" lIns="0" rIns="0" tIns="0" bIns="0">
            <a:spAutoFit/>
          </a:bodyPr>
          <a:lstStyle/>
          <a:p>
            <a:pPr>
              <a:spcAft>
                <a:spcPts val="0"/>
              </a:spcAft>
              <a:defRPr sz="1000" b="0">
                <a:solidFill>
                  <a:srgbClr val="536671"/>
                </a:solidFill>
                <a:latin typeface="DejaVu Sans"/>
              </a:defRPr>
            </a:pPr>
            <a:r>
              <a:t>Current legal source: official 2026/27 tariff compilation, pages 4–5 and 215; Customs Tariff Act 2081.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More freedom to exchange, with costs stated openly</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10</a:t>
            </a:r>
          </a:p>
        </p:txBody>
      </p:sp>
      <p:sp>
        <p:nvSpPr>
          <p:cNvPr id="8" name="TextBox 7"/>
          <p:cNvSpPr txBox="1"/>
          <p:nvPr/>
        </p:nvSpPr>
        <p:spPr>
          <a:xfrm>
            <a:off x="609600" y="1625600"/>
            <a:ext cx="10795000" cy="1270000"/>
          </a:xfrm>
          <a:prstGeom prst="rect">
            <a:avLst/>
          </a:prstGeom>
          <a:noFill/>
        </p:spPr>
        <p:txBody>
          <a:bodyPr wrap="square" lIns="0" rIns="0" tIns="0" bIns="0">
            <a:spAutoFit/>
          </a:bodyPr>
          <a:lstStyle/>
          <a:p>
            <a:pPr>
              <a:spcAft>
                <a:spcPts val="0"/>
              </a:spcAft>
              <a:defRPr sz="2200" b="1">
                <a:solidFill>
                  <a:srgbClr val="162D3D"/>
                </a:solidFill>
                <a:latin typeface="DejaVu Sans"/>
              </a:defRPr>
            </a:pPr>
            <a:r>
              <a:t>Liberty principle: purchasers and sellers should have wider freedom to exchange under predictable rules. Protection gives concentrated benefits to selected producers while spreading costs across buyers.</a:t>
            </a:r>
          </a:p>
        </p:txBody>
      </p:sp>
      <p:sp>
        <p:nvSpPr>
          <p:cNvPr id="9" name="Rectangle 8"/>
          <p:cNvSpPr/>
          <p:nvPr/>
        </p:nvSpPr>
        <p:spPr>
          <a:xfrm>
            <a:off x="609600" y="3263900"/>
            <a:ext cx="10795000" cy="1651000"/>
          </a:xfrm>
          <a:prstGeom prst="rect">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3454400"/>
            <a:ext cx="10287000" cy="1270000"/>
          </a:xfrm>
          <a:prstGeom prst="rect">
            <a:avLst/>
          </a:prstGeom>
          <a:noFill/>
        </p:spPr>
        <p:txBody>
          <a:bodyPr wrap="square" lIns="0" rIns="0" tIns="0" bIns="0">
            <a:spAutoFit/>
          </a:bodyPr>
          <a:lstStyle/>
          <a:p>
            <a:pPr>
              <a:spcAft>
                <a:spcPts val="0"/>
              </a:spcAft>
              <a:defRPr sz="1900" b="0">
                <a:solidFill>
                  <a:srgbClr val="162D3D"/>
                </a:solidFill>
                <a:latin typeface="DejaVu Sans"/>
              </a:defRPr>
            </a:pPr>
            <a:r>
              <a:t>Strongest objection: tariff revenue may fall before public finances adjust, while protected firms and workers face concentrated losses. A gradual transition does not remove these costs. Our data do not quantify them.</a:t>
            </a:r>
          </a:p>
        </p:txBody>
      </p:sp>
      <p:sp>
        <p:nvSpPr>
          <p:cNvPr id="11" name="TextBox 10"/>
          <p:cNvSpPr txBox="1"/>
          <p:nvPr/>
        </p:nvSpPr>
        <p:spPr>
          <a:xfrm>
            <a:off x="609600" y="5283200"/>
            <a:ext cx="10795000" cy="825500"/>
          </a:xfrm>
          <a:prstGeom prst="rect">
            <a:avLst/>
          </a:prstGeom>
          <a:noFill/>
        </p:spPr>
        <p:txBody>
          <a:bodyPr wrap="square" lIns="0" rIns="0" tIns="0" bIns="0">
            <a:spAutoFit/>
          </a:bodyPr>
          <a:lstStyle/>
          <a:p>
            <a:pPr>
              <a:spcAft>
                <a:spcPts val="0"/>
              </a:spcAft>
              <a:defRPr sz="1600" b="1">
                <a:solidFill>
                  <a:srgbClr val="176B87"/>
                </a:solidFill>
                <a:latin typeface="DejaVu Sans"/>
              </a:defRPr>
            </a:pPr>
            <a:r>
              <a:t>Policy judgement: lower remaining tariff peaks cautiously; do not promise a growth premium. The historical evidence is mixed and cannot establish the proposed ceiling’s welfare effect.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A · Chart index</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A11</a:t>
            </a:r>
          </a:p>
        </p:txBody>
      </p:sp>
      <p:sp>
        <p:nvSpPr>
          <p:cNvPr id="8" name="TextBox 7"/>
          <p:cNvSpPr txBox="1"/>
          <p:nvPr/>
        </p:nvSpPr>
        <p:spPr>
          <a:xfrm>
            <a:off x="571500" y="1422400"/>
            <a:ext cx="10922000" cy="444500"/>
          </a:xfrm>
          <a:prstGeom prst="rect">
            <a:avLst/>
          </a:prstGeom>
          <a:noFill/>
        </p:spPr>
        <p:txBody>
          <a:bodyPr wrap="square" lIns="0" rIns="0" tIns="0" bIns="0">
            <a:spAutoFit/>
          </a:bodyPr>
          <a:lstStyle/>
          <a:p>
            <a:pPr>
              <a:spcAft>
                <a:spcPts val="0"/>
              </a:spcAft>
              <a:defRPr sz="1300" b="0">
                <a:solidFill>
                  <a:srgbClr val="536671"/>
                </a:solidFill>
                <a:latin typeface="DejaVu Sans"/>
              </a:defRPr>
            </a:pPr>
            <a:r>
              <a:t>Cell numbers count markdown and code cells; all chart values are generated by the notebook.</a:t>
            </a:r>
          </a:p>
        </p:txBody>
      </p:sp>
      <p:sp>
        <p:nvSpPr>
          <p:cNvPr id="9" name="TextBox 8"/>
          <p:cNvSpPr txBox="1"/>
          <p:nvPr/>
        </p:nvSpPr>
        <p:spPr>
          <a:xfrm>
            <a:off x="571500" y="20701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Fig1</a:t>
            </a:r>
          </a:p>
        </p:txBody>
      </p:sp>
      <p:sp>
        <p:nvSpPr>
          <p:cNvPr id="10" name="TextBox 9"/>
          <p:cNvSpPr txBox="1"/>
          <p:nvPr/>
        </p:nvSpPr>
        <p:spPr>
          <a:xfrm>
            <a:off x="1460500" y="20701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All ten screened countries: observed tariff histories</a:t>
            </a:r>
          </a:p>
        </p:txBody>
      </p:sp>
      <p:sp>
        <p:nvSpPr>
          <p:cNvPr id="11" name="TextBox 10"/>
          <p:cNvSpPr txBox="1"/>
          <p:nvPr/>
        </p:nvSpPr>
        <p:spPr>
          <a:xfrm>
            <a:off x="9245600" y="20701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3 · cell 17</a:t>
            </a:r>
          </a:p>
        </p:txBody>
      </p:sp>
      <p:sp>
        <p:nvSpPr>
          <p:cNvPr id="12" name="TextBox 11"/>
          <p:cNvSpPr txBox="1"/>
          <p:nvPr/>
        </p:nvSpPr>
        <p:spPr>
          <a:xfrm>
            <a:off x="571500" y="25400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Fig2</a:t>
            </a:r>
          </a:p>
        </p:txBody>
      </p:sp>
      <p:sp>
        <p:nvSpPr>
          <p:cNvPr id="13" name="TextBox 12"/>
          <p:cNvSpPr txBox="1"/>
          <p:nvPr/>
        </p:nvSpPr>
        <p:spPr>
          <a:xfrm>
            <a:off x="1460500" y="25400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Broader trade institutions: the chain-linked EFW panel</a:t>
            </a:r>
          </a:p>
        </p:txBody>
      </p:sp>
      <p:sp>
        <p:nvSpPr>
          <p:cNvPr id="14" name="TextBox 13"/>
          <p:cNvSpPr txBox="1"/>
          <p:nvPr/>
        </p:nvSpPr>
        <p:spPr>
          <a:xfrm>
            <a:off x="9245600" y="25400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4 · cell 18</a:t>
            </a:r>
          </a:p>
        </p:txBody>
      </p:sp>
      <p:sp>
        <p:nvSpPr>
          <p:cNvPr id="15" name="TextBox 14"/>
          <p:cNvSpPr txBox="1"/>
          <p:nvPr/>
        </p:nvSpPr>
        <p:spPr>
          <a:xfrm>
            <a:off x="571500" y="30099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Fig3</a:t>
            </a:r>
          </a:p>
        </p:txBody>
      </p:sp>
      <p:sp>
        <p:nvSpPr>
          <p:cNvPr id="16" name="TextBox 15"/>
          <p:cNvSpPr txBox="1"/>
          <p:nvPr/>
        </p:nvSpPr>
        <p:spPr>
          <a:xfrm>
            <a:off x="1460500" y="30099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Raw income histories before making event comparisons</a:t>
            </a:r>
          </a:p>
        </p:txBody>
      </p:sp>
      <p:sp>
        <p:nvSpPr>
          <p:cNvPr id="17" name="TextBox 16"/>
          <p:cNvSpPr txBox="1"/>
          <p:nvPr/>
        </p:nvSpPr>
        <p:spPr>
          <a:xfrm>
            <a:off x="9245600" y="30099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12 · cell 19</a:t>
            </a:r>
          </a:p>
        </p:txBody>
      </p:sp>
      <p:sp>
        <p:nvSpPr>
          <p:cNvPr id="18" name="TextBox 17"/>
          <p:cNvSpPr txBox="1"/>
          <p:nvPr/>
        </p:nvSpPr>
        <p:spPr>
          <a:xfrm>
            <a:off x="571500" y="34798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Fig4</a:t>
            </a:r>
          </a:p>
        </p:txBody>
      </p:sp>
      <p:sp>
        <p:nvSpPr>
          <p:cNvPr id="19" name="TextBox 18"/>
          <p:cNvSpPr txBox="1"/>
          <p:nvPr/>
        </p:nvSpPr>
        <p:spPr>
          <a:xfrm>
            <a:off x="1460500" y="34798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Income around the documented tariff-cutting episodes</a:t>
            </a:r>
          </a:p>
        </p:txBody>
      </p:sp>
      <p:sp>
        <p:nvSpPr>
          <p:cNvPr id="20" name="TextBox 19"/>
          <p:cNvSpPr txBox="1"/>
          <p:nvPr/>
        </p:nvSpPr>
        <p:spPr>
          <a:xfrm>
            <a:off x="9245600" y="34798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5 · cell 20</a:t>
            </a:r>
          </a:p>
        </p:txBody>
      </p:sp>
      <p:sp>
        <p:nvSpPr>
          <p:cNvPr id="21" name="TextBox 20"/>
          <p:cNvSpPr txBox="1"/>
          <p:nvPr/>
        </p:nvSpPr>
        <p:spPr>
          <a:xfrm>
            <a:off x="571500" y="39497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Fig5</a:t>
            </a:r>
          </a:p>
        </p:txBody>
      </p:sp>
      <p:sp>
        <p:nvSpPr>
          <p:cNvPr id="22" name="TextBox 21"/>
          <p:cNvSpPr txBox="1"/>
          <p:nvPr/>
        </p:nvSpPr>
        <p:spPr>
          <a:xfrm>
            <a:off x="1460500" y="39497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Income growth: before, after, and in other countries</a:t>
            </a:r>
          </a:p>
        </p:txBody>
      </p:sp>
      <p:sp>
        <p:nvSpPr>
          <p:cNvPr id="23" name="TextBox 22"/>
          <p:cNvSpPr txBox="1"/>
          <p:nvPr/>
        </p:nvSpPr>
        <p:spPr>
          <a:xfrm>
            <a:off x="9245600" y="39497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6 · cell 21</a:t>
            </a:r>
          </a:p>
        </p:txBody>
      </p:sp>
      <p:sp>
        <p:nvSpPr>
          <p:cNvPr id="24" name="TextBox 23"/>
          <p:cNvSpPr txBox="1"/>
          <p:nvPr/>
        </p:nvSpPr>
        <p:spPr>
          <a:xfrm>
            <a:off x="571500" y="44196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Fig6</a:t>
            </a:r>
          </a:p>
        </p:txBody>
      </p:sp>
      <p:sp>
        <p:nvSpPr>
          <p:cNvPr id="25" name="TextBox 24"/>
          <p:cNvSpPr txBox="1"/>
          <p:nvPr/>
        </p:nvSpPr>
        <p:spPr>
          <a:xfrm>
            <a:off x="1460500" y="44196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Which countries exceeded the broad comparator?</a:t>
            </a:r>
          </a:p>
        </p:txBody>
      </p:sp>
      <p:sp>
        <p:nvSpPr>
          <p:cNvPr id="26" name="TextBox 25"/>
          <p:cNvSpPr txBox="1"/>
          <p:nvPr/>
        </p:nvSpPr>
        <p:spPr>
          <a:xfrm>
            <a:off x="9245600" y="44196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7 · cell 22</a:t>
            </a:r>
          </a:p>
        </p:txBody>
      </p:sp>
      <p:sp>
        <p:nvSpPr>
          <p:cNvPr id="27" name="TextBox 26"/>
          <p:cNvSpPr txBox="1"/>
          <p:nvPr/>
        </p:nvSpPr>
        <p:spPr>
          <a:xfrm>
            <a:off x="571500" y="48895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Fig7</a:t>
            </a:r>
          </a:p>
        </p:txBody>
      </p:sp>
      <p:sp>
        <p:nvSpPr>
          <p:cNvPr id="28" name="TextBox 27"/>
          <p:cNvSpPr txBox="1"/>
          <p:nvPr/>
        </p:nvSpPr>
        <p:spPr>
          <a:xfrm>
            <a:off x="1460500" y="48895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Timing sensitivity: the denominator follows valid data</a:t>
            </a:r>
          </a:p>
        </p:txBody>
      </p:sp>
      <p:sp>
        <p:nvSpPr>
          <p:cNvPr id="29" name="TextBox 28"/>
          <p:cNvSpPr txBox="1"/>
          <p:nvPr/>
        </p:nvSpPr>
        <p:spPr>
          <a:xfrm>
            <a:off x="9245600" y="48895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7 · cell 23</a:t>
            </a:r>
          </a:p>
        </p:txBody>
      </p:sp>
      <p:sp>
        <p:nvSpPr>
          <p:cNvPr id="30" name="TextBox 29"/>
          <p:cNvSpPr txBox="1"/>
          <p:nvPr/>
        </p:nvSpPr>
        <p:spPr>
          <a:xfrm>
            <a:off x="571500" y="5359400"/>
            <a:ext cx="825500" cy="381000"/>
          </a:xfrm>
          <a:prstGeom prst="rect">
            <a:avLst/>
          </a:prstGeom>
          <a:noFill/>
        </p:spPr>
        <p:txBody>
          <a:bodyPr wrap="square" lIns="0" rIns="0" tIns="0" bIns="0">
            <a:spAutoFit/>
          </a:bodyPr>
          <a:lstStyle/>
          <a:p>
            <a:pPr>
              <a:spcAft>
                <a:spcPts val="0"/>
              </a:spcAft>
              <a:defRPr sz="1300" b="1">
                <a:solidFill>
                  <a:srgbClr val="162D3D"/>
                </a:solidFill>
                <a:latin typeface="DejaVu Sans"/>
              </a:defRPr>
            </a:pPr>
            <a:r>
              <a:t>Fig8</a:t>
            </a:r>
          </a:p>
        </p:txBody>
      </p:sp>
      <p:sp>
        <p:nvSpPr>
          <p:cNvPr id="31" name="TextBox 30"/>
          <p:cNvSpPr txBox="1"/>
          <p:nvPr/>
        </p:nvSpPr>
        <p:spPr>
          <a:xfrm>
            <a:off x="1460500" y="5359400"/>
            <a:ext cx="76200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Nepal: a different starting point from the largest cutters</a:t>
            </a:r>
          </a:p>
        </p:txBody>
      </p:sp>
      <p:sp>
        <p:nvSpPr>
          <p:cNvPr id="32" name="TextBox 31"/>
          <p:cNvSpPr txBox="1"/>
          <p:nvPr/>
        </p:nvSpPr>
        <p:spPr>
          <a:xfrm>
            <a:off x="9245600" y="5359400"/>
            <a:ext cx="2349500" cy="381000"/>
          </a:xfrm>
          <a:prstGeom prst="rect">
            <a:avLst/>
          </a:prstGeom>
          <a:noFill/>
        </p:spPr>
        <p:txBody>
          <a:bodyPr wrap="square" lIns="0" rIns="0" tIns="0" bIns="0">
            <a:spAutoFit/>
          </a:bodyPr>
          <a:lstStyle/>
          <a:p>
            <a:pPr>
              <a:spcAft>
                <a:spcPts val="0"/>
              </a:spcAft>
              <a:defRPr sz="1200" b="0">
                <a:solidFill>
                  <a:srgbClr val="162D3D"/>
                </a:solidFill>
                <a:latin typeface="DejaVu Sans"/>
              </a:defRPr>
            </a:pPr>
            <a:r>
              <a:t>page 9 · cell 24</a:t>
            </a:r>
          </a:p>
        </p:txBody>
      </p:sp>
      <p:sp>
        <p:nvSpPr>
          <p:cNvPr id="33" name="TextBox 32"/>
          <p:cNvSpPr txBox="1"/>
          <p:nvPr/>
        </p:nvSpPr>
        <p:spPr>
          <a:xfrm>
            <a:off x="571500" y="5930900"/>
            <a:ext cx="10985500" cy="355600"/>
          </a:xfrm>
          <a:prstGeom prst="rect">
            <a:avLst/>
          </a:prstGeom>
          <a:noFill/>
        </p:spPr>
        <p:txBody>
          <a:bodyPr wrap="square" lIns="0" rIns="0" tIns="0" bIns="0">
            <a:spAutoFit/>
          </a:bodyPr>
          <a:lstStyle/>
          <a:p>
            <a:pPr>
              <a:spcAft>
                <a:spcPts val="0"/>
              </a:spcAft>
              <a:defRPr sz="1100" b="0">
                <a:solidFill>
                  <a:srgbClr val="536671"/>
                </a:solidFill>
                <a:latin typeface="DejaVu Sans"/>
              </a:defRPr>
            </a:pPr>
            <a:r>
              <a:t>Exact data: outputs/FigN_data.csv. Charts: figures/FigN.png and .pdf. Working file includes original dataset bytes.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B · Full-period raw income histories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A12</a:t>
            </a:r>
          </a:p>
        </p:txBody>
      </p:sp>
      <p:pic>
        <p:nvPicPr>
          <p:cNvPr id="8" name="Picture 7" descr="Fig3.png"/>
          <p:cNvPicPr>
            <a:picLocks noChangeAspect="1"/>
          </p:cNvPicPr>
          <p:nvPr/>
        </p:nvPicPr>
        <p:blipFill>
          <a:blip r:embed="rId2"/>
          <a:stretch>
            <a:fillRect/>
          </a:stretch>
        </p:blipFill>
        <p:spPr>
          <a:xfrm>
            <a:off x="817562" y="1422400"/>
            <a:ext cx="10556875" cy="4826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C1 · Public sources and access dates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A13</a:t>
            </a:r>
          </a:p>
        </p:txBody>
      </p:sp>
      <p:sp>
        <p:nvSpPr>
          <p:cNvPr id="8" name="TextBox 7"/>
          <p:cNvSpPr txBox="1"/>
          <p:nvPr/>
        </p:nvSpPr>
        <p:spPr>
          <a:xfrm>
            <a:off x="546100" y="14732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IND1991</a:t>
            </a:r>
          </a:p>
        </p:txBody>
      </p:sp>
      <p:sp>
        <p:nvSpPr>
          <p:cNvPr id="9" name="TextBox 8"/>
          <p:cNvSpPr txBox="1"/>
          <p:nvPr/>
        </p:nvSpPr>
        <p:spPr>
          <a:xfrm>
            <a:off x="1714500" y="14732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Government of India, Ministry of Finance · Union Budget Speech 1991–92 · 1991</a:t>
            </a:r>
          </a:p>
        </p:txBody>
      </p:sp>
      <p:sp>
        <p:nvSpPr>
          <p:cNvPr id="10" name="TextBox 9"/>
          <p:cNvSpPr txBox="1"/>
          <p:nvPr/>
        </p:nvSpPr>
        <p:spPr>
          <a:xfrm>
            <a:off x="1714500" y="17653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Budget speech paragraphs 107 and 148; PDF pages 24 and 31</a:t>
            </a:r>
          </a:p>
        </p:txBody>
      </p:sp>
      <p:sp>
        <p:nvSpPr>
          <p:cNvPr id="11" name="TextBox 10"/>
          <p:cNvSpPr txBox="1"/>
          <p:nvPr/>
        </p:nvSpPr>
        <p:spPr>
          <a:xfrm>
            <a:off x="546100" y="21463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CHN1992</a:t>
            </a:r>
          </a:p>
        </p:txBody>
      </p:sp>
      <p:sp>
        <p:nvSpPr>
          <p:cNvPr id="12" name="TextBox 11"/>
          <p:cNvSpPr txBox="1"/>
          <p:nvPr/>
        </p:nvSpPr>
        <p:spPr>
          <a:xfrm>
            <a:off x="1714500" y="21463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Zhang Yansheng, Wan Zhongxin and Zhang Shuguang; Institute for International Economics · Measuring the Costs of Protection in China, chapter 2 (open excerpt) · 1998</a:t>
            </a:r>
          </a:p>
        </p:txBody>
      </p:sp>
      <p:sp>
        <p:nvSpPr>
          <p:cNvPr id="13" name="TextBox 12"/>
          <p:cNvSpPr txBox="1"/>
          <p:nvPr/>
        </p:nvSpPr>
        <p:spPr>
          <a:xfrm>
            <a:off x="1714500" y="24384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The Chinese Trade-Administration System, printed page 5; PDF page 3</a:t>
            </a:r>
          </a:p>
        </p:txBody>
      </p:sp>
      <p:sp>
        <p:nvSpPr>
          <p:cNvPr id="14" name="TextBox 13"/>
          <p:cNvSpPr txBox="1"/>
          <p:nvPr/>
        </p:nvSpPr>
        <p:spPr>
          <a:xfrm>
            <a:off x="546100" y="28194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MUS1994</a:t>
            </a:r>
          </a:p>
        </p:txBody>
      </p:sp>
      <p:sp>
        <p:nvSpPr>
          <p:cNvPr id="15" name="TextBox 14"/>
          <p:cNvSpPr txBox="1"/>
          <p:nvPr/>
        </p:nvSpPr>
        <p:spPr>
          <a:xfrm>
            <a:off x="1714500" y="28194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World Trade Organization · Trade Policy Review: Mauritius, Secretariat summary · 1995</a:t>
            </a:r>
          </a:p>
        </p:txBody>
      </p:sp>
      <p:sp>
        <p:nvSpPr>
          <p:cNvPr id="16" name="TextBox 15"/>
          <p:cNvSpPr txBox="1"/>
          <p:nvPr/>
        </p:nvSpPr>
        <p:spPr>
          <a:xfrm>
            <a:off x="1714500" y="31115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WTO 1995 review, Secretariat: Recent evolution</a:t>
            </a:r>
          </a:p>
        </p:txBody>
      </p:sp>
      <p:sp>
        <p:nvSpPr>
          <p:cNvPr id="17" name="TextBox 16"/>
          <p:cNvSpPr txBox="1"/>
          <p:nvPr/>
        </p:nvSpPr>
        <p:spPr>
          <a:xfrm>
            <a:off x="546100" y="34925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THA1995</a:t>
            </a:r>
          </a:p>
        </p:txBody>
      </p:sp>
      <p:sp>
        <p:nvSpPr>
          <p:cNvPr id="18" name="TextBox 17"/>
          <p:cNvSpPr txBox="1"/>
          <p:nvPr/>
        </p:nvSpPr>
        <p:spPr>
          <a:xfrm>
            <a:off x="1714500" y="34925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World Trade Organization · Trade Policy Review: Thailand, Secretariat summary · 1995</a:t>
            </a:r>
          </a:p>
        </p:txBody>
      </p:sp>
      <p:sp>
        <p:nvSpPr>
          <p:cNvPr id="19" name="TextBox 18"/>
          <p:cNvSpPr txBox="1"/>
          <p:nvPr/>
        </p:nvSpPr>
        <p:spPr>
          <a:xfrm>
            <a:off x="1714500" y="37846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WTO 1995 review, press release tariff paragraph and Recent evolution</a:t>
            </a:r>
          </a:p>
        </p:txBody>
      </p:sp>
      <p:sp>
        <p:nvSpPr>
          <p:cNvPr id="20" name="TextBox 19"/>
          <p:cNvSpPr txBox="1"/>
          <p:nvPr/>
        </p:nvSpPr>
        <p:spPr>
          <a:xfrm>
            <a:off x="546100" y="41656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PHL1995</a:t>
            </a:r>
          </a:p>
        </p:txBody>
      </p:sp>
      <p:sp>
        <p:nvSpPr>
          <p:cNvPr id="21" name="TextBox 20"/>
          <p:cNvSpPr txBox="1"/>
          <p:nvPr/>
        </p:nvSpPr>
        <p:spPr>
          <a:xfrm>
            <a:off x="1714500" y="41656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President of the Philippines; Lawphil public reproduction · Executive Order No. 288, recital concerning EO264 · 1995</a:t>
            </a:r>
          </a:p>
        </p:txBody>
      </p:sp>
      <p:sp>
        <p:nvSpPr>
          <p:cNvPr id="22" name="TextBox 21"/>
          <p:cNvSpPr txBox="1"/>
          <p:nvPr/>
        </p:nvSpPr>
        <p:spPr>
          <a:xfrm>
            <a:off x="1714500" y="44577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Executive Order 288, first WHEREAS recital</a:t>
            </a:r>
          </a:p>
        </p:txBody>
      </p:sp>
      <p:sp>
        <p:nvSpPr>
          <p:cNvPr id="23" name="TextBox 22"/>
          <p:cNvSpPr txBox="1"/>
          <p:nvPr/>
        </p:nvSpPr>
        <p:spPr>
          <a:xfrm>
            <a:off x="546100" y="48387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PAK1997</a:t>
            </a:r>
          </a:p>
        </p:txBody>
      </p:sp>
      <p:sp>
        <p:nvSpPr>
          <p:cNvPr id="24" name="TextBox 23"/>
          <p:cNvSpPr txBox="1"/>
          <p:nvPr/>
        </p:nvSpPr>
        <p:spPr>
          <a:xfrm>
            <a:off x="1714500" y="48387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Social Policy and Development Centre · Evaluation of the Federal Budget 1999–2000, Research Report 23 · 1999</a:t>
            </a:r>
          </a:p>
        </p:txBody>
      </p:sp>
      <p:sp>
        <p:nvSpPr>
          <p:cNvPr id="25" name="TextBox 24"/>
          <p:cNvSpPr txBox="1"/>
          <p:nvPr/>
        </p:nvSpPr>
        <p:spPr>
          <a:xfrm>
            <a:off x="1714500" y="51308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SPDC Evaluation of Federal Budget 1999-2000, PDF page 33, tax-reform discussion</a:t>
            </a:r>
          </a:p>
        </p:txBody>
      </p:sp>
      <p:sp>
        <p:nvSpPr>
          <p:cNvPr id="26" name="TextBox 25"/>
          <p:cNvSpPr txBox="1"/>
          <p:nvPr/>
        </p:nvSpPr>
        <p:spPr>
          <a:xfrm>
            <a:off x="546100" y="55118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CIV1998</a:t>
            </a:r>
          </a:p>
        </p:txBody>
      </p:sp>
      <p:sp>
        <p:nvSpPr>
          <p:cNvPr id="27" name="TextBox 26"/>
          <p:cNvSpPr txBox="1"/>
          <p:nvPr/>
        </p:nvSpPr>
        <p:spPr>
          <a:xfrm>
            <a:off x="1714500" y="55118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International Monetary Fund · Côte d’Ivoire: Selected Issues and Statistical Appendix, Country Report 00/107 · 2000</a:t>
            </a:r>
          </a:p>
        </p:txBody>
      </p:sp>
      <p:sp>
        <p:nvSpPr>
          <p:cNvPr id="28" name="TextBox 27"/>
          <p:cNvSpPr txBox="1"/>
          <p:nvPr/>
        </p:nvSpPr>
        <p:spPr>
          <a:xfrm>
            <a:off x="1714500" y="58039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IMF Country Report 00/107, printed page 18, Box 2; PDF page 19 (visually inspected)</a:t>
            </a:r>
          </a:p>
        </p:txBody>
      </p:sp>
      <p:sp>
        <p:nvSpPr>
          <p:cNvPr id="29" name="TextBox 28"/>
          <p:cNvSpPr txBox="1"/>
          <p:nvPr/>
        </p:nvSpPr>
        <p:spPr>
          <a:xfrm>
            <a:off x="571500" y="6261100"/>
            <a:ext cx="11049000" cy="2159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Source titles are clickable in PDF. Full URLs, source files, checksums and locations: research/sources.md and source_register.csv.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C2 · Public sources and access dates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A14</a:t>
            </a:r>
          </a:p>
        </p:txBody>
      </p:sp>
      <p:sp>
        <p:nvSpPr>
          <p:cNvPr id="8" name="TextBox 7"/>
          <p:cNvSpPr txBox="1"/>
          <p:nvPr/>
        </p:nvSpPr>
        <p:spPr>
          <a:xfrm>
            <a:off x="546100" y="14732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SEN1998</a:t>
            </a:r>
          </a:p>
        </p:txBody>
      </p:sp>
      <p:sp>
        <p:nvSpPr>
          <p:cNvPr id="9" name="TextBox 8"/>
          <p:cNvSpPr txBox="1"/>
          <p:nvPr/>
        </p:nvSpPr>
        <p:spPr>
          <a:xfrm>
            <a:off x="1714500" y="14732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International Monetary Fund · Senegal: Statistical Appendix, Country Report 99/5 · 1999</a:t>
            </a:r>
          </a:p>
        </p:txBody>
      </p:sp>
      <p:sp>
        <p:nvSpPr>
          <p:cNvPr id="10" name="TextBox 9"/>
          <p:cNvSpPr txBox="1"/>
          <p:nvPr/>
        </p:nvSpPr>
        <p:spPr>
          <a:xfrm>
            <a:off x="1714500" y="17653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IMF Country Report 99/5, printed page 32, Table 27; PDF page 33 (visually inspected)</a:t>
            </a:r>
          </a:p>
        </p:txBody>
      </p:sp>
      <p:sp>
        <p:nvSpPr>
          <p:cNvPr id="11" name="TextBox 10"/>
          <p:cNvSpPr txBox="1"/>
          <p:nvPr/>
        </p:nvSpPr>
        <p:spPr>
          <a:xfrm>
            <a:off x="546100" y="21463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BGDtiming</a:t>
            </a:r>
          </a:p>
        </p:txBody>
      </p:sp>
      <p:sp>
        <p:nvSpPr>
          <p:cNvPr id="12" name="TextBox 11"/>
          <p:cNvSpPr txBox="1"/>
          <p:nvPr/>
        </p:nvSpPr>
        <p:spPr>
          <a:xfrm>
            <a:off x="1714500" y="21463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GATT · Bangladesh balance-of-payments review, BOP/W/160 · 1995</a:t>
            </a:r>
          </a:p>
        </p:txBody>
      </p:sp>
      <p:sp>
        <p:nvSpPr>
          <p:cNvPr id="13" name="TextBox 12"/>
          <p:cNvSpPr txBox="1"/>
          <p:nvPr/>
        </p:nvSpPr>
        <p:spPr>
          <a:xfrm>
            <a:off x="1714500" y="24384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GATT BOP/W/160, paragraph 5; WTO 2000 government report tariff table</a:t>
            </a:r>
          </a:p>
        </p:txBody>
      </p:sp>
      <p:sp>
        <p:nvSpPr>
          <p:cNvPr id="14" name="TextBox 13"/>
          <p:cNvSpPr txBox="1"/>
          <p:nvPr/>
        </p:nvSpPr>
        <p:spPr>
          <a:xfrm>
            <a:off x="546100" y="28194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KENtiming</a:t>
            </a:r>
          </a:p>
        </p:txBody>
      </p:sp>
      <p:sp>
        <p:nvSpPr>
          <p:cNvPr id="15" name="TextBox 14"/>
          <p:cNvSpPr txBox="1"/>
          <p:nvPr/>
        </p:nvSpPr>
        <p:spPr>
          <a:xfrm>
            <a:off x="1714500" y="28194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Government of Kenya / IMF · Enhanced Structural Adjustment Facility Policy Framework Paper 1996–1998 · 1996</a:t>
            </a:r>
          </a:p>
        </p:txBody>
      </p:sp>
      <p:sp>
        <p:nvSpPr>
          <p:cNvPr id="16" name="TextBox 15"/>
          <p:cNvSpPr txBox="1"/>
          <p:nvPr/>
        </p:nvSpPr>
        <p:spPr>
          <a:xfrm>
            <a:off x="1714500" y="31115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Kenya Policy Framework Paper 1996-1998, paragraph 6; PDF page 5</a:t>
            </a:r>
          </a:p>
        </p:txBody>
      </p:sp>
      <p:sp>
        <p:nvSpPr>
          <p:cNvPr id="17" name="TextBox 16"/>
          <p:cNvSpPr txBox="1"/>
          <p:nvPr/>
        </p:nvSpPr>
        <p:spPr>
          <a:xfrm>
            <a:off x="546100" y="34925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EFW</a:t>
            </a:r>
          </a:p>
        </p:txBody>
      </p:sp>
      <p:sp>
        <p:nvSpPr>
          <p:cNvPr id="18" name="TextBox 17"/>
          <p:cNvSpPr txBox="1"/>
          <p:nvPr/>
        </p:nvSpPr>
        <p:spPr>
          <a:xfrm>
            <a:off x="1714500" y="34925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Fraser Institute · Competition-supplied EFW workbook: chain-linked panel and raw Ratings · Coverage 1970–2024; release acceptance pending</a:t>
            </a:r>
          </a:p>
        </p:txBody>
      </p:sp>
      <p:sp>
        <p:nvSpPr>
          <p:cNvPr id="19" name="TextBox 18"/>
          <p:cNvSpPr txBox="1"/>
          <p:nvPr/>
        </p:nvSpPr>
        <p:spPr>
          <a:xfrm>
            <a:off x="1714500" y="37846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Panel Area4 and Ratings raw 4Aii; original workbook hash preserved</a:t>
            </a:r>
          </a:p>
        </p:txBody>
      </p:sp>
      <p:sp>
        <p:nvSpPr>
          <p:cNvPr id="20" name="TextBox 19"/>
          <p:cNvSpPr txBox="1"/>
          <p:nvPr/>
        </p:nvSpPr>
        <p:spPr>
          <a:xfrm>
            <a:off x="546100" y="41656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UNDP</a:t>
            </a:r>
          </a:p>
        </p:txBody>
      </p:sp>
      <p:sp>
        <p:nvSpPr>
          <p:cNvPr id="21" name="TextBox 20"/>
          <p:cNvSpPr txBox="1"/>
          <p:nvPr/>
        </p:nvSpPr>
        <p:spPr>
          <a:xfrm>
            <a:off x="1714500" y="41656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UNDP Human Development Report Office · All composite indices and components time series · HDR25; 1990–2023</a:t>
            </a:r>
          </a:p>
        </p:txBody>
      </p:sp>
      <p:sp>
        <p:nvSpPr>
          <p:cNvPr id="22" name="TextBox 21"/>
          <p:cNvSpPr txBox="1"/>
          <p:nvPr/>
        </p:nvSpPr>
        <p:spPr>
          <a:xfrm>
            <a:off x="1714500" y="44577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GNI/person 2021 PPP dollars; components and country codes</a:t>
            </a:r>
          </a:p>
        </p:txBody>
      </p:sp>
      <p:sp>
        <p:nvSpPr>
          <p:cNvPr id="23" name="TextBox 22"/>
          <p:cNvSpPr txBox="1"/>
          <p:nvPr/>
        </p:nvSpPr>
        <p:spPr>
          <a:xfrm>
            <a:off x="546100" y="48387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EFW2026</a:t>
            </a:r>
          </a:p>
        </p:txBody>
      </p:sp>
      <p:sp>
        <p:nvSpPr>
          <p:cNvPr id="24" name="TextBox 23"/>
          <p:cNvSpPr txBox="1"/>
          <p:nvPr/>
        </p:nvSpPr>
        <p:spPr>
          <a:xfrm>
            <a:off x="1714500" y="48387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Cato Institute / Fraser Institute · Economic Freedom of the World 2026, publisher landing page · 2026</a:t>
            </a:r>
          </a:p>
        </p:txBody>
      </p:sp>
      <p:sp>
        <p:nvSpPr>
          <p:cNvPr id="25" name="TextBox 24"/>
          <p:cNvSpPr txBox="1"/>
          <p:nvPr/>
        </p:nvSpPr>
        <p:spPr>
          <a:xfrm>
            <a:off x="1714500" y="51308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Confirms release covers 2024; does not establish supplied file byte identity</a:t>
            </a:r>
          </a:p>
        </p:txBody>
      </p:sp>
      <p:sp>
        <p:nvSpPr>
          <p:cNvPr id="26" name="TextBox 25"/>
          <p:cNvSpPr txBox="1"/>
          <p:nvPr/>
        </p:nvSpPr>
        <p:spPr>
          <a:xfrm>
            <a:off x="546100" y="55118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EFWMETHOD</a:t>
            </a:r>
          </a:p>
        </p:txBody>
      </p:sp>
      <p:sp>
        <p:nvSpPr>
          <p:cNvPr id="27" name="TextBox 26"/>
          <p:cNvSpPr txBox="1"/>
          <p:nvPr/>
        </p:nvSpPr>
        <p:spPr>
          <a:xfrm>
            <a:off x="1714500" y="55118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Fraser Institute / Cato Institute · EFW 2026: Explanatory Notes and Data Sources · 2026</a:t>
            </a:r>
          </a:p>
        </p:txBody>
      </p:sp>
      <p:sp>
        <p:nvSpPr>
          <p:cNvPr id="28" name="TextBox 27"/>
          <p:cNvSpPr txBox="1"/>
          <p:nvPr/>
        </p:nvSpPr>
        <p:spPr>
          <a:xfrm>
            <a:off x="1714500" y="58039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Area4 A(ii), printed page94 / PDF page8; rating floor methodology</a:t>
            </a:r>
          </a:p>
        </p:txBody>
      </p:sp>
      <p:sp>
        <p:nvSpPr>
          <p:cNvPr id="29" name="TextBox 28"/>
          <p:cNvSpPr txBox="1"/>
          <p:nvPr/>
        </p:nvSpPr>
        <p:spPr>
          <a:xfrm>
            <a:off x="571500" y="6261100"/>
            <a:ext cx="11049000" cy="2159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Source titles are clickable in PDF. Full URLs, source files, checksums and locations: research/sources.md and source_register.csv.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C3 · Public sources and access dates</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A15</a:t>
            </a:r>
          </a:p>
        </p:txBody>
      </p:sp>
      <p:sp>
        <p:nvSpPr>
          <p:cNvPr id="8" name="TextBox 7"/>
          <p:cNvSpPr txBox="1"/>
          <p:nvPr/>
        </p:nvSpPr>
        <p:spPr>
          <a:xfrm>
            <a:off x="546100" y="14732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NPLTARIFF</a:t>
            </a:r>
          </a:p>
        </p:txBody>
      </p:sp>
      <p:sp>
        <p:nvSpPr>
          <p:cNvPr id="9" name="TextBox 8"/>
          <p:cNvSpPr txBox="1"/>
          <p:nvPr/>
        </p:nvSpPr>
        <p:spPr>
          <a:xfrm>
            <a:off x="1714500" y="14732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Nepal Department of Customs · Integrated Customs Tariff FY2083/84 · 2026/27</a:t>
            </a:r>
          </a:p>
        </p:txBody>
      </p:sp>
      <p:sp>
        <p:nvSpPr>
          <p:cNvPr id="10" name="TextBox 9"/>
          <p:cNvSpPr txBox="1"/>
          <p:nvPr/>
        </p:nvSpPr>
        <p:spPr>
          <a:xfrm>
            <a:off x="1714500" y="17653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PDF pages4–5: legal basis and Schedule1; page215: higher non-agricultural basic duties</a:t>
            </a:r>
          </a:p>
        </p:txBody>
      </p:sp>
      <p:sp>
        <p:nvSpPr>
          <p:cNvPr id="11" name="TextBox 10"/>
          <p:cNvSpPr txBox="1"/>
          <p:nvPr/>
        </p:nvSpPr>
        <p:spPr>
          <a:xfrm>
            <a:off x="546100" y="21463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NPLACT</a:t>
            </a:r>
          </a:p>
        </p:txBody>
      </p:sp>
      <p:sp>
        <p:nvSpPr>
          <p:cNvPr id="12" name="TextBox 11"/>
          <p:cNvSpPr txBox="1"/>
          <p:nvPr/>
        </p:nvSpPr>
        <p:spPr>
          <a:xfrm>
            <a:off x="1714500" y="21463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Nepal Law Commission · Customs Tariff Act 2081 · 2024</a:t>
            </a:r>
          </a:p>
        </p:txBody>
      </p:sp>
      <p:sp>
        <p:nvSpPr>
          <p:cNvPr id="13" name="TextBox 12"/>
          <p:cNvSpPr txBox="1"/>
          <p:nvPr/>
        </p:nvSpPr>
        <p:spPr>
          <a:xfrm>
            <a:off x="1714500" y="24384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Act first page and import Schedule1; direct PDF URL in fetch_law_manifest.json</a:t>
            </a:r>
          </a:p>
        </p:txBody>
      </p:sp>
      <p:sp>
        <p:nvSpPr>
          <p:cNvPr id="14" name="TextBox 13"/>
          <p:cNvSpPr txBox="1"/>
          <p:nvPr/>
        </p:nvSpPr>
        <p:spPr>
          <a:xfrm>
            <a:off x="546100" y="28194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NPLFIN</a:t>
            </a:r>
          </a:p>
        </p:txBody>
      </p:sp>
      <p:sp>
        <p:nvSpPr>
          <p:cNvPr id="15" name="TextBox 14"/>
          <p:cNvSpPr txBox="1"/>
          <p:nvPr/>
        </p:nvSpPr>
        <p:spPr>
          <a:xfrm>
            <a:off x="1714500" y="28194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Nepal Law Commission / Department of Customs · Finance Act 2083 listing · 2026</a:t>
            </a:r>
          </a:p>
        </p:txBody>
      </p:sp>
      <p:sp>
        <p:nvSpPr>
          <p:cNvPr id="16" name="TextBox 15"/>
          <p:cNvSpPr txBox="1"/>
          <p:nvPr/>
        </p:nvSpPr>
        <p:spPr>
          <a:xfrm>
            <a:off x="1714500" y="31115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Current legislation listing; use current integrated tariff for implemented rate context</a:t>
            </a:r>
          </a:p>
        </p:txBody>
      </p:sp>
      <p:sp>
        <p:nvSpPr>
          <p:cNvPr id="17" name="TextBox 16"/>
          <p:cNvSpPr txBox="1"/>
          <p:nvPr/>
        </p:nvSpPr>
        <p:spPr>
          <a:xfrm>
            <a:off x="546100" y="34925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THACRISIS</a:t>
            </a:r>
          </a:p>
        </p:txBody>
      </p:sp>
      <p:sp>
        <p:nvSpPr>
          <p:cNvPr id="18" name="TextBox 17"/>
          <p:cNvSpPr txBox="1"/>
          <p:nvPr/>
        </p:nvSpPr>
        <p:spPr>
          <a:xfrm>
            <a:off x="1714500" y="34925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World Trade Organization · Trade Policy Review: Thailand · 1999</a:t>
            </a:r>
          </a:p>
        </p:txBody>
      </p:sp>
      <p:sp>
        <p:nvSpPr>
          <p:cNvPr id="19" name="TextBox 18"/>
          <p:cNvSpPr txBox="1"/>
          <p:nvPr/>
        </p:nvSpPr>
        <p:spPr>
          <a:xfrm>
            <a:off x="1714500" y="37846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Financial crisis is a realistic competing explanation for growth slowdown</a:t>
            </a:r>
          </a:p>
        </p:txBody>
      </p:sp>
      <p:sp>
        <p:nvSpPr>
          <p:cNvPr id="20" name="TextBox 19"/>
          <p:cNvSpPr txBox="1"/>
          <p:nvPr/>
        </p:nvSpPr>
        <p:spPr>
          <a:xfrm>
            <a:off x="546100" y="4165600"/>
            <a:ext cx="1092200" cy="533400"/>
          </a:xfrm>
          <a:prstGeom prst="rect">
            <a:avLst/>
          </a:prstGeom>
          <a:noFill/>
        </p:spPr>
        <p:txBody>
          <a:bodyPr wrap="square" lIns="0" rIns="0" tIns="0" bIns="0">
            <a:spAutoFit/>
          </a:bodyPr>
          <a:lstStyle/>
          <a:p>
            <a:pPr>
              <a:spcAft>
                <a:spcPts val="0"/>
              </a:spcAft>
              <a:defRPr sz="900" b="1">
                <a:solidFill>
                  <a:srgbClr val="176B87"/>
                </a:solidFill>
                <a:latin typeface="DejaVu Sans"/>
              </a:defRPr>
            </a:pPr>
            <a:r>
              <a:t>CIVCONFLICT</a:t>
            </a:r>
          </a:p>
        </p:txBody>
      </p:sp>
      <p:sp>
        <p:nvSpPr>
          <p:cNvPr id="21" name="TextBox 20"/>
          <p:cNvSpPr txBox="1"/>
          <p:nvPr/>
        </p:nvSpPr>
        <p:spPr>
          <a:xfrm>
            <a:off x="1714500" y="4165600"/>
            <a:ext cx="9906000" cy="292100"/>
          </a:xfrm>
          <a:prstGeom prst="rect">
            <a:avLst/>
          </a:prstGeom>
          <a:noFill/>
        </p:spPr>
        <p:txBody>
          <a:bodyPr wrap="square" lIns="0" rIns="0" tIns="0" bIns="0">
            <a:spAutoFit/>
          </a:bodyPr>
          <a:lstStyle/>
          <a:p>
            <a:pPr>
              <a:spcAft>
                <a:spcPts val="0"/>
              </a:spcAft>
              <a:defRPr sz="900" b="0">
                <a:solidFill>
                  <a:srgbClr val="162D3D"/>
                </a:solidFill>
                <a:latin typeface="DejaVu Sans"/>
              </a:defRPr>
            </a:pPr>
            <a:r>
              <a:t>World Bank · Côte d’Ivoire: Strengthening Public Expenditure Management and Controls, Report27141-IVC · 2003</a:t>
            </a:r>
          </a:p>
        </p:txBody>
      </p:sp>
      <p:sp>
        <p:nvSpPr>
          <p:cNvPr id="22" name="TextBox 21"/>
          <p:cNvSpPr txBox="1"/>
          <p:nvPr/>
        </p:nvSpPr>
        <p:spPr>
          <a:xfrm>
            <a:off x="1714500" y="4457700"/>
            <a:ext cx="9906000" cy="3302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Accessed 2026-10-16. Summary: instability since1999 and civil conflict2002; alternative explanation, not quantified here</a:t>
            </a:r>
          </a:p>
        </p:txBody>
      </p:sp>
      <p:sp>
        <p:nvSpPr>
          <p:cNvPr id="23" name="TextBox 22"/>
          <p:cNvSpPr txBox="1"/>
          <p:nvPr/>
        </p:nvSpPr>
        <p:spPr>
          <a:xfrm>
            <a:off x="571500" y="6261100"/>
            <a:ext cx="11049000" cy="2159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Source titles are clickable in PDF. Full URLs, source files, checksums and locations: research/sources.md and source_register.csv.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76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5900"/>
            <a:ext cx="11303000" cy="228600"/>
          </a:xfrm>
          <a:prstGeom prst="rect">
            <a:avLst/>
          </a:prstGeom>
          <a:noFill/>
        </p:spPr>
        <p:txBody>
          <a:bodyPr wrap="square" lIns="0" rIns="0" tIns="0" bIns="0">
            <a:spAutoFit/>
          </a:bodyPr>
          <a:lstStyle/>
          <a:p>
            <a:pPr>
              <a:spcAft>
                <a:spcPts val="0"/>
              </a:spcAft>
              <a:defRPr sz="1000" b="1">
                <a:solidFill>
                  <a:srgbClr val="176B87"/>
                </a:solidFill>
                <a:latin typeface="DejaVu Sans"/>
              </a:defRPr>
            </a:pPr>
            <a:r>
              <a:t>LIBERTY DATA DRIVE 2026</a:t>
            </a:r>
          </a:p>
        </p:txBody>
      </p:sp>
      <p:sp>
        <p:nvSpPr>
          <p:cNvPr id="5" name="TextBox 4"/>
          <p:cNvSpPr txBox="1"/>
          <p:nvPr/>
        </p:nvSpPr>
        <p:spPr>
          <a:xfrm>
            <a:off x="457200" y="584200"/>
            <a:ext cx="11303000" cy="838200"/>
          </a:xfrm>
          <a:prstGeom prst="rect">
            <a:avLst/>
          </a:prstGeom>
          <a:noFill/>
        </p:spPr>
        <p:txBody>
          <a:bodyPr wrap="square" lIns="0" rIns="0" tIns="0" bIns="0">
            <a:spAutoFit/>
          </a:bodyPr>
          <a:lstStyle/>
          <a:p>
            <a:pPr>
              <a:spcAft>
                <a:spcPts val="0"/>
              </a:spcAft>
              <a:defRPr sz="2700" b="1">
                <a:solidFill>
                  <a:srgbClr val="162D3D"/>
                </a:solidFill>
                <a:latin typeface="DejaVu Sans"/>
              </a:defRPr>
            </a:pPr>
            <a:r>
              <a:t>Appendix D · AI disclosure and reproducibility</a:t>
            </a:r>
          </a:p>
        </p:txBody>
      </p:sp>
      <p:sp>
        <p:nvSpPr>
          <p:cNvPr id="6" name="TextBox 5"/>
          <p:cNvSpPr txBox="1"/>
          <p:nvPr/>
        </p:nvSpPr>
        <p:spPr>
          <a:xfrm>
            <a:off x="457200" y="6553200"/>
            <a:ext cx="93980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Suwarna Pyakurel · Solo · Participant review copy · Organiser approval pending</a:t>
            </a:r>
          </a:p>
        </p:txBody>
      </p:sp>
      <p:sp>
        <p:nvSpPr>
          <p:cNvPr id="7" name="TextBox 6"/>
          <p:cNvSpPr txBox="1"/>
          <p:nvPr/>
        </p:nvSpPr>
        <p:spPr>
          <a:xfrm>
            <a:off x="10668000" y="6553200"/>
            <a:ext cx="1079500" cy="177800"/>
          </a:xfrm>
          <a:prstGeom prst="rect">
            <a:avLst/>
          </a:prstGeom>
          <a:noFill/>
        </p:spPr>
        <p:txBody>
          <a:bodyPr wrap="square" lIns="0" rIns="0" tIns="0" bIns="0">
            <a:spAutoFit/>
          </a:bodyPr>
          <a:lstStyle/>
          <a:p>
            <a:pPr>
              <a:spcAft>
                <a:spcPts val="0"/>
              </a:spcAft>
              <a:defRPr sz="800" b="0">
                <a:solidFill>
                  <a:srgbClr val="536671"/>
                </a:solidFill>
                <a:latin typeface="DejaVu Sans"/>
              </a:defRPr>
            </a:pPr>
            <a:r>
              <a:t>A16</a:t>
            </a:r>
          </a:p>
        </p:txBody>
      </p:sp>
      <p:sp>
        <p:nvSpPr>
          <p:cNvPr id="8" name="TextBox 7"/>
          <p:cNvSpPr txBox="1"/>
          <p:nvPr/>
        </p:nvSpPr>
        <p:spPr>
          <a:xfrm>
            <a:off x="584200" y="1536700"/>
            <a:ext cx="10985500" cy="1524000"/>
          </a:xfrm>
          <a:prstGeom prst="rect">
            <a:avLst/>
          </a:prstGeom>
          <a:noFill/>
        </p:spPr>
        <p:txBody>
          <a:bodyPr wrap="square" lIns="0" rIns="0" tIns="0" bIns="0">
            <a:spAutoFit/>
          </a:bodyPr>
          <a:lstStyle/>
          <a:p>
            <a:pPr>
              <a:spcAft>
                <a:spcPts val="0"/>
              </a:spcAft>
              <a:defRPr sz="1800" b="0">
                <a:solidFill>
                  <a:srgbClr val="162D3D"/>
                </a:solidFill>
                <a:latin typeface="DejaVu Sans"/>
              </a:defRPr>
            </a:pPr>
            <a:r>
              <a:t>OpenAI Codex assisted with inspecting datasets, writing and debugging code, checking reproducibility, researching public policy sources, drafting analysis documentation and generating the presentation. The participant is responsible for reviewing the work and explaining all submitted claims.</a:t>
            </a:r>
          </a:p>
        </p:txBody>
      </p:sp>
      <p:sp>
        <p:nvSpPr>
          <p:cNvPr id="9" name="TextBox 8"/>
          <p:cNvSpPr txBox="1"/>
          <p:nvPr/>
        </p:nvSpPr>
        <p:spPr>
          <a:xfrm>
            <a:off x="584200" y="3416300"/>
            <a:ext cx="10985500" cy="1168400"/>
          </a:xfrm>
          <a:prstGeom prst="rect">
            <a:avLst/>
          </a:prstGeom>
          <a:noFill/>
        </p:spPr>
        <p:txBody>
          <a:bodyPr wrap="square" lIns="0" rIns="0" tIns="0" bIns="0">
            <a:spAutoFit/>
          </a:bodyPr>
          <a:lstStyle/>
          <a:p>
            <a:pPr>
              <a:spcAft>
                <a:spcPts val="0"/>
              </a:spcAft>
              <a:defRPr sz="1700" b="0">
                <a:solidFill>
                  <a:srgbClr val="162D3D"/>
                </a:solidFill>
                <a:latin typeface="DejaVu Sans"/>
              </a:defRPr>
            </a:pPr>
            <a:r>
              <a:t>The working notebook embeds both original datasets and the date ledger. Run all cells from an empty directory or fresh Colab runtime. Exact figure tables, source locations, package versions and validation reports are included.</a:t>
            </a:r>
          </a:p>
        </p:txBody>
      </p:sp>
      <p:sp>
        <p:nvSpPr>
          <p:cNvPr id="10" name="TextBox 9"/>
          <p:cNvSpPr txBox="1"/>
          <p:nvPr/>
        </p:nvSpPr>
        <p:spPr>
          <a:xfrm>
            <a:off x="584200" y="4876800"/>
            <a:ext cx="10985500" cy="1206500"/>
          </a:xfrm>
          <a:prstGeom prst="rect">
            <a:avLst/>
          </a:prstGeom>
          <a:noFill/>
        </p:spPr>
        <p:txBody>
          <a:bodyPr wrap="square" lIns="0" rIns="0" tIns="0" bIns="0">
            <a:spAutoFit/>
          </a:bodyPr>
          <a:lstStyle/>
          <a:p>
            <a:pPr>
              <a:spcAft>
                <a:spcPts val="0"/>
              </a:spcAft>
              <a:defRPr sz="1600" b="0">
                <a:solidFill>
                  <a:srgbClr val="536671"/>
                </a:solidFill>
                <a:latin typeface="DejaVu Sans"/>
              </a:defRPr>
            </a:pPr>
            <a:r>
              <a:t>Solo entry: no team contribution statement. Organiser declaration approval, dataset-scope acceptance, final deadline and signed-out sharing checks remain external pending items. No submission or organiser contact has been made by the assistant.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